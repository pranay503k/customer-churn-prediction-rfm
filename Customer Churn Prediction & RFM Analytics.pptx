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  <ns0:Default Extension="fntdata" ContentType="application/x-fontdata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 embedTrueTypeFonts="1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</ns0:sldIdLst>
  <ns0:sldSz cx="12192000" cy="6858000" type="screen4x3"/>
  <ns0:notesSz cx="6858000" cy="9144000"/>
  <ns0:embeddedFontLst>
    <ns0:embeddedFont>
      <ns0:font typeface="Inter"/>
      <ns0:bold ns1:id="rIdFont18"/>
      <ns0:regular ns1:id="rIdFont19"/>
    </ns0:embeddedFont>
    <ns0:embeddedFont>
      <ns0:font typeface="Plus Jakarta Sans"/>
      <ns0:bold ns1:id="rIdFont20"/>
    </ns0:embeddedFont>
  </ns0:embeddedFontLst>
  <ns0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interSettings" Target="printerSettings/printerSettings1.bin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ns0:Relationship Id="rId7" Type="http://schemas.openxmlformats.org/officeDocument/2006/relationships/slide" Target="slides/slide1.xml" /><ns0:Relationship Id="rId8" Type="http://schemas.openxmlformats.org/officeDocument/2006/relationships/slide" Target="slides/slide2.xml" /><ns0:Relationship Id="rId9" Type="http://schemas.openxmlformats.org/officeDocument/2006/relationships/slide" Target="slides/slide3.xml" /><ns0:Relationship Id="rId10" Type="http://schemas.openxmlformats.org/officeDocument/2006/relationships/slide" Target="slides/slide4.xml" /><ns0:Relationship Id="rId11" Type="http://schemas.openxmlformats.org/officeDocument/2006/relationships/slide" Target="slides/slide5.xml" /><ns0:Relationship Id="rId12" Type="http://schemas.openxmlformats.org/officeDocument/2006/relationships/slide" Target="slides/slide6.xml" /><ns0:Relationship Id="rId13" Type="http://schemas.openxmlformats.org/officeDocument/2006/relationships/slide" Target="slides/slide7.xml" /><ns0:Relationship Id="rId14" Type="http://schemas.openxmlformats.org/officeDocument/2006/relationships/slide" Target="slides/slide8.xml" /><ns0:Relationship Id="rId15" Type="http://schemas.openxmlformats.org/officeDocument/2006/relationships/slide" Target="slides/slide9.xml" /><ns0:Relationship Id="rId16" Type="http://schemas.openxmlformats.org/officeDocument/2006/relationships/slide" Target="slides/slide10.xml" /><ns0:Relationship Id="rId17" Type="http://schemas.openxmlformats.org/officeDocument/2006/relationships/slide" Target="slides/slide11.xml" /><ns0:Relationship Id="rIdFont18" Type="http://schemas.openxmlformats.org/officeDocument/2006/relationships/font" Target="fonts/b27abd18-8095-4645-95aa-d32f9b8a2e4b.fntdata" /><ns0:Relationship Id="rIdFont19" Type="http://schemas.openxmlformats.org/officeDocument/2006/relationships/font" Target="fonts/f3f7f817-814d-45ee-91e2-210e7ac3a7f4.fntdata" /><ns0:Relationship Id="rIdFont20" Type="http://schemas.openxmlformats.org/officeDocument/2006/relationships/font" Target="fonts/019dc052-a131-4bd5-9141-b19fe576f7f4.fntdata" /></ns0: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600" y="4563367"/>
            <a:ext cx="7620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1761232"/>
            <a:ext cx="3000375" cy="276225"/>
          </a:xfrm>
          <a:prstGeom prst="roundRect">
            <a:avLst>
              <a:gd name="adj" fmla="val 50000"/>
            </a:avLst>
          </a:prstGeom>
          <a:solidFill>
            <a:srgbClr val="132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2266057"/>
            <a:ext cx="9101137" cy="11391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b="1" sz="3900" i="0" u="none">
                <a:solidFill>
                  <a:srgbClr val="FFFFFF"/>
                </a:solidFill>
                <a:latin typeface="Plus Jakarta Sans"/>
              </a:rPr>
              <a:t>Customer Churn Prediction &amp; RFM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595687"/>
            <a:ext cx="7239000" cy="586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b="0" sz="1650" i="0" u="none">
                <a:solidFill>
                  <a:srgbClr val="94A3B8"/>
                </a:solidFill>
                <a:latin typeface="Inter"/>
              </a:rPr>
              <a:t>Predictive Machine Learning Pipeline for Proactive Revenue Retention &amp; Customer Risk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818382"/>
            <a:ext cx="2790825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0A5FA"/>
                </a:solidFill>
                <a:latin typeface="Inter"/>
              </a:rPr>
              <a:t>AICTE DATA ANALYTICS INTERNSHIP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906267"/>
            <a:ext cx="1400175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CBD5E1"/>
                </a:solidFill>
                <a:latin typeface="Inter"/>
              </a:rPr>
              <a:t>Author:</a:t>
            </a:r>
            <a:r>
              <a:rPr b="0" sz="1200" i="0" u="none">
                <a:solidFill>
                  <a:srgbClr val="CBD5E1"/>
                </a:solidFill>
                <a:latin typeface="Inter"/>
              </a:rPr>
              <a:t> Pranay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8825" y="4906267"/>
            <a:ext cx="2464593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CBD5E1"/>
                </a:solidFill>
                <a:latin typeface="Inter"/>
              </a:rPr>
              <a:t>Focus:</a:t>
            </a:r>
            <a:r>
              <a:rPr b="0" sz="1200" i="0" u="none">
                <a:solidFill>
                  <a:srgbClr val="CBD5E1"/>
                </a:solidFill>
                <a:latin typeface="Inter"/>
              </a:rPr>
              <a:t> Predictive Modeling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4906267"/>
            <a:ext cx="3155156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CBD5E1"/>
                </a:solidFill>
                <a:latin typeface="Inter"/>
              </a:rPr>
              <a:t>Stack:</a:t>
            </a:r>
            <a:r>
              <a:rPr b="0" sz="1200" i="0" u="none">
                <a:solidFill>
                  <a:srgbClr val="CBD5E1"/>
                </a:solidFill>
                <a:latin typeface="Inter"/>
              </a:rPr>
              <a:t> Python, Pandas, Scikit-learn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735609"/>
            <a:ext cx="5610225" cy="2367855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2025" y="4284315"/>
            <a:ext cx="4905375" cy="4667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677025" y="2576512"/>
            <a:ext cx="4905375" cy="1600200"/>
          </a:xfrm>
          <a:prstGeom prst="roundRect">
            <a:avLst>
              <a:gd name="adj" fmla="val 9523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7025" y="4367212"/>
            <a:ext cx="4905375" cy="89535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2025" y="4284315"/>
            <a:ext cx="4905375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4484340"/>
            <a:ext cx="266700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533400"/>
            <a:ext cx="11068050" cy="676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2563EB"/>
                </a:solidFill>
                <a:latin typeface="Inter"/>
              </a:rPr>
              <a:t>PROJECT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781050"/>
            <a:ext cx="11582400" cy="4286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Executive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025" y="3088034"/>
            <a:ext cx="6438304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Plus Jakarta Sans"/>
              </a:rPr>
              <a:t>Core Objective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025" y="3507134"/>
            <a:ext cx="5000625" cy="54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b="0" sz="1350" i="0" u="none">
                <a:solidFill>
                  <a:srgbClr val="475569"/>
                </a:solidFill>
                <a:latin typeface="Inter"/>
              </a:rPr>
              <a:t>Transform raw order transactions into customer-level RFM metrics to build an automated churn prediction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1125" y="4522440"/>
            <a:ext cx="3988593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1E293B"/>
                </a:solidFill>
                <a:latin typeface="Inter"/>
              </a:rPr>
              <a:t>Proactive Intervention vs Reactive Recovery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1825" y="2881312"/>
            <a:ext cx="5210175" cy="533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b="1" sz="4200" i="0" u="none">
                <a:solidFill>
                  <a:srgbClr val="FFFFFF"/>
                </a:solidFill>
                <a:latin typeface="Inter"/>
              </a:rPr>
              <a:t>5x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1825" y="3490912"/>
            <a:ext cx="439102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FFFFF"/>
                </a:solidFill>
                <a:latin typeface="Inter"/>
              </a:rPr>
              <a:t>Higher cost to acquire new customers than retaining existing 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5150" y="4605337"/>
            <a:ext cx="527685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F172A"/>
                </a:solidFill>
                <a:latin typeface="Inter"/>
              </a:rPr>
              <a:t>Machine Learning Focus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15150" y="4833937"/>
            <a:ext cx="527685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64748B"/>
                </a:solidFill>
                <a:latin typeface="Inter"/>
              </a:rPr>
              <a:t>Supervised classification via Random Forest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847975"/>
            <a:ext cx="3505200" cy="2143125"/>
          </a:xfrm>
          <a:prstGeom prst="roundRect">
            <a:avLst>
              <a:gd name="adj" fmla="val 711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43400" y="2847975"/>
            <a:ext cx="3505200" cy="2143125"/>
          </a:xfrm>
          <a:prstGeom prst="roundRect">
            <a:avLst>
              <a:gd name="adj" fmla="val 711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077200" y="2847975"/>
            <a:ext cx="3505200" cy="2143125"/>
          </a:xfrm>
          <a:prstGeom prst="roundRect">
            <a:avLst>
              <a:gd name="adj" fmla="val 711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2847975"/>
            <a:ext cx="3505200" cy="381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43400" y="2847975"/>
            <a:ext cx="3505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77200" y="2847975"/>
            <a:ext cx="35052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90875"/>
            <a:ext cx="342900" cy="3048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0" y="3190875"/>
            <a:ext cx="304800" cy="3048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0" y="3190875"/>
            <a:ext cx="3048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533400"/>
            <a:ext cx="11068050" cy="676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2563EB"/>
                </a:solidFill>
                <a:latin typeface="Inter"/>
              </a:rPr>
              <a:t>BUSINESS CHALLENGE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781050"/>
            <a:ext cx="11582400" cy="4286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The Cost of Unidentified Churn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48075"/>
            <a:ext cx="3800475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Plus Jakarta Sans"/>
              </a:rPr>
              <a:t>Revenue Decay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00500"/>
            <a:ext cx="299085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475569"/>
                </a:solidFill>
                <a:latin typeface="Inter"/>
              </a:rPr>
              <a:t>Unmonitored churn leads to direct erosion of recurring revenue and lifetime customer value.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8200" y="3648075"/>
            <a:ext cx="3800475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Plus Jakarta Sans"/>
              </a:rPr>
              <a:t>High CAC Pressure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4000500"/>
            <a:ext cx="299085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475569"/>
                </a:solidFill>
                <a:latin typeface="Inter"/>
              </a:rPr>
              <a:t>Replacing lost accounts requires intensive ad spend and high acquisition budgets.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3648075"/>
            <a:ext cx="3800475" cy="2381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Plus Jakarta Sans"/>
              </a:rPr>
              <a:t>Delayed 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0" y="4000500"/>
            <a:ext cx="299085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475569"/>
                </a:solidFill>
                <a:latin typeface="Inter"/>
              </a:rPr>
              <a:t>Re-engaging clients after total disengagement yields low response rates.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3067050"/>
            <a:ext cx="2440781" cy="1704975"/>
          </a:xfrm>
          <a:prstGeom prst="roundRect">
            <a:avLst>
              <a:gd name="adj" fmla="val 893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59956" y="3067050"/>
            <a:ext cx="2440781" cy="1704975"/>
          </a:xfrm>
          <a:prstGeom prst="roundRect">
            <a:avLst>
              <a:gd name="adj" fmla="val 893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10312" y="3067050"/>
            <a:ext cx="2440781" cy="1704975"/>
          </a:xfrm>
          <a:prstGeom prst="roundRect">
            <a:avLst>
              <a:gd name="adj" fmla="val 893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60668" y="3076575"/>
            <a:ext cx="2421731" cy="1685925"/>
          </a:xfrm>
          <a:prstGeom prst="roundRect">
            <a:avLst>
              <a:gd name="adj" fmla="val 9039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781" y="3833812"/>
            <a:ext cx="104775" cy="1714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3137" y="3833812"/>
            <a:ext cx="104775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3493" y="3833812"/>
            <a:ext cx="104775" cy="1714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533400"/>
            <a:ext cx="11068050" cy="676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2563EB"/>
                </a:solidFill>
                <a:latin typeface="Inter"/>
              </a:rPr>
              <a:t>TECHNICAL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781050"/>
            <a:ext cx="11582400" cy="4286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End-to-End Analytics 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3343275"/>
            <a:ext cx="2360414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2563EB"/>
                </a:solidFill>
                <a:latin typeface="Inter"/>
              </a:rPr>
              <a:t>STEP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5825" y="3619500"/>
            <a:ext cx="2478434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Inter"/>
              </a:rPr>
              <a:t>Data Cleaning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825" y="3895725"/>
            <a:ext cx="1983581" cy="600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125" i="0" u="none">
                <a:solidFill>
                  <a:srgbClr val="64748B"/>
                </a:solidFill>
                <a:latin typeface="Inter"/>
              </a:rPr>
              <a:t>Standardizing string formats and replacing missing values.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6181" y="3343275"/>
            <a:ext cx="2360414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2563EB"/>
                </a:solidFill>
                <a:latin typeface="Inter"/>
              </a:rPr>
              <a:t>STEP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6181" y="3619500"/>
            <a:ext cx="2478434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Inter"/>
              </a:rPr>
              <a:t>RFM Extraction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6181" y="3895725"/>
            <a:ext cx="1983581" cy="600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125" i="0" u="none">
                <a:solidFill>
                  <a:srgbClr val="64748B"/>
                </a:solidFill>
                <a:latin typeface="Inter"/>
              </a:rPr>
              <a:t>Aggregating transactions to Recency, Frequency &amp; Monetary metrics.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6537" y="3343275"/>
            <a:ext cx="2360414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2563EB"/>
                </a:solidFill>
                <a:latin typeface="Inter"/>
              </a:rPr>
              <a:t>STEP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6537" y="3619500"/>
            <a:ext cx="2478434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Inter"/>
              </a:rPr>
              <a:t>Model Training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6537" y="3895725"/>
            <a:ext cx="1983581" cy="600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125" i="0" u="none">
                <a:solidFill>
                  <a:srgbClr val="64748B"/>
                </a:solidFill>
                <a:latin typeface="Inter"/>
              </a:rPr>
              <a:t>Random Forest Classification on 80/20 train-test split.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27368" y="3343275"/>
            <a:ext cx="2360414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8FAFC"/>
                </a:solidFill>
                <a:latin typeface="Inter"/>
              </a:rPr>
              <a:t>STEP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27368" y="3619500"/>
            <a:ext cx="2478434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Inter"/>
              </a:rPr>
              <a:t>Risk Scoring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368" y="3895725"/>
            <a:ext cx="1983581" cy="600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b="0" sz="1125" i="0" u="none">
                <a:solidFill>
                  <a:srgbClr val="DBEAFE"/>
                </a:solidFill>
                <a:latin typeface="Inter"/>
              </a:rPr>
              <a:t>Exporting High/Low risk classifications for campaigns.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4081462"/>
            <a:ext cx="152400" cy="152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3500437"/>
            <a:ext cx="152400" cy="1524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4662487"/>
            <a:ext cx="95250" cy="152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3500437"/>
            <a:ext cx="152400" cy="1524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4081462"/>
            <a:ext cx="152400" cy="1524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4662487"/>
            <a:ext cx="95250" cy="1524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9600" y="2776537"/>
          <a:ext cx="10972799" cy="2247900"/>
        </p:xfrm>
        <a:graphic>
          <a:graphicData uri="http://schemas.openxmlformats.org/drawingml/2006/table">
            <a:tbl>
              <a:tblPr firstRow="0" bandRow="0">
                <a:lnL>
                  <a:noFill/>
                </a:lnL>
                <a:lnR>
                  <a:noFill/>
                </a:lnR>
                <a:lnT>
                  <a:noFill/>
                </a:lnT>
                <a:lnB>
                  <a:noFill/>
                </a:lnB>
                <a:lnV>
                  <a:noFill/>
                </a:lnV>
                <a:lnH>
                  <a:noFill/>
                </a:lnH>
              </a:tblPr>
              <a:tblGrid>
                <a:gridCol w="1840706"/>
                <a:gridCol w="4572000"/>
                <a:gridCol w="1852761"/>
                <a:gridCol w="2707332"/>
              </a:tblGrid>
              <a:tr h="561975">
                <a:tc>
                  <a:txBody>
                    <a:bodyPr/>
                    <a:lstStyle/>
                    <a:p>
                      <a:pPr algn="l"/>
                      <a:r>
                        <a:rPr b="1" sz="1200" i="0" u="none">
                          <a:solidFill>
                            <a:srgbClr val="0F172A"/>
                          </a:solidFill>
                          <a:latin typeface="Inter"/>
                        </a:rPr>
                        <a:t>Metric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 i="0" u="none">
                          <a:solidFill>
                            <a:srgbClr val="0F172A"/>
                          </a:solidFill>
                          <a:latin typeface="Inter"/>
                        </a:rPr>
                        <a:t>Definition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 i="0" u="none">
                          <a:solidFill>
                            <a:srgbClr val="0F172A"/>
                          </a:solidFill>
                          <a:latin typeface="Inter"/>
                        </a:rPr>
                        <a:t>Data Type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 i="0" u="none">
                          <a:solidFill>
                            <a:srgbClr val="0F172A"/>
                          </a:solidFill>
                          <a:latin typeface="Inter"/>
                        </a:rPr>
                        <a:t>Churn Signal Threshold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1F5F9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pPr algn="l"/>
                      <a:r>
                        <a:rPr b="1" sz="1200" i="0" u="none">
                          <a:solidFill>
                            <a:srgbClr val="2563EB"/>
                          </a:solidFill>
                          <a:latin typeface="Inter"/>
                        </a:rPr>
                        <a:t>Recency</a:t>
                      </a:r>
                    </a:p>
                  </a:txBody>
                  <a:tcPr anchor="ctr" marL="3429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200" i="0" u="none">
                          <a:solidFill>
                            <a:srgbClr val="475569"/>
                          </a:solidFill>
                          <a:latin typeface="Inter"/>
                        </a:rPr>
                        <a:t>Days elapsed since last customer transaction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200" i="0" u="none">
                          <a:solidFill>
                            <a:srgbClr val="64748B"/>
                          </a:solidFill>
                          <a:latin typeface="Inter"/>
                        </a:rPr>
                        <a:t>Integer (Days)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 i="0" u="none">
                          <a:solidFill>
                            <a:srgbClr val="EF4444"/>
                          </a:solidFill>
                          <a:latin typeface="Inter"/>
                        </a:rPr>
                        <a:t>&gt; 180 Days Inactive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pPr algn="l"/>
                      <a:r>
                        <a:rPr b="1" sz="1200" i="0" u="none">
                          <a:solidFill>
                            <a:srgbClr val="2563EB"/>
                          </a:solidFill>
                          <a:latin typeface="Inter"/>
                        </a:rPr>
                        <a:t>Frequency</a:t>
                      </a:r>
                    </a:p>
                  </a:txBody>
                  <a:tcPr anchor="ctr" marL="3429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200" i="0" u="none">
                          <a:solidFill>
                            <a:srgbClr val="475569"/>
                          </a:solidFill>
                          <a:latin typeface="Inter"/>
                        </a:rPr>
                        <a:t>Total completed transaction count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200" i="0" u="none">
                          <a:solidFill>
                            <a:srgbClr val="64748B"/>
                          </a:solidFill>
                          <a:latin typeface="Inter"/>
                        </a:rPr>
                        <a:t>Integer (Count)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 i="0" u="none">
                          <a:solidFill>
                            <a:srgbClr val="0F172A"/>
                          </a:solidFill>
                          <a:latin typeface="Inter"/>
                        </a:rPr>
                        <a:t>&lt; 10 Total Orders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pPr algn="l"/>
                      <a:r>
                        <a:rPr b="1" sz="1200" i="0" u="none">
                          <a:solidFill>
                            <a:srgbClr val="2563EB"/>
                          </a:solidFill>
                          <a:latin typeface="Inter"/>
                        </a:rPr>
                        <a:t>Monetary</a:t>
                      </a:r>
                    </a:p>
                  </a:txBody>
                  <a:tcPr anchor="ctr" marL="28575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200" i="0" u="none">
                          <a:solidFill>
                            <a:srgbClr val="475569"/>
                          </a:solidFill>
                          <a:latin typeface="Inter"/>
                        </a:rPr>
                        <a:t>Cumulative lifetime revenue generated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200" i="0" u="none">
                          <a:solidFill>
                            <a:srgbClr val="64748B"/>
                          </a:solidFill>
                          <a:latin typeface="Inter"/>
                        </a:rPr>
                        <a:t>Float ($ USD)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 i="0" u="none">
                          <a:solidFill>
                            <a:srgbClr val="0F172A"/>
                          </a:solidFill>
                          <a:latin typeface="Inter"/>
                        </a:rPr>
                        <a:t>LTV Segmentation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9600" y="533400"/>
            <a:ext cx="11068050" cy="676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2563EB"/>
                </a:solidFill>
                <a:latin typeface="Inter"/>
              </a:rPr>
              <a:t>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781050"/>
            <a:ext cx="11582400" cy="4286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RFM Behavioral Metrics Framework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886075"/>
            <a:ext cx="3454449" cy="2066925"/>
          </a:xfrm>
          <a:prstGeom prst="roundRect">
            <a:avLst>
              <a:gd name="adj" fmla="val 737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68849" y="2886075"/>
            <a:ext cx="3454449" cy="2066925"/>
          </a:xfrm>
          <a:prstGeom prst="roundRect">
            <a:avLst>
              <a:gd name="adj" fmla="val 737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28099" y="2886075"/>
            <a:ext cx="3454449" cy="2066925"/>
          </a:xfrm>
          <a:prstGeom prst="roundRect">
            <a:avLst>
              <a:gd name="adj" fmla="val 737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533400"/>
            <a:ext cx="11068050" cy="676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2563EB"/>
                </a:solidFill>
                <a:latin typeface="Inter"/>
              </a:rPr>
              <a:t>EVALUATION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81050"/>
            <a:ext cx="11582400" cy="4286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Model Performance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325" y="3238500"/>
            <a:ext cx="3436999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b="1" sz="4800" i="0" u="none">
                <a:solidFill>
                  <a:srgbClr val="2563EB"/>
                </a:solidFill>
                <a:latin typeface="Inter"/>
              </a:rPr>
              <a:t>94%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8325" y="3962400"/>
            <a:ext cx="343699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0F172A"/>
                </a:solidFill>
                <a:latin typeface="Inter"/>
              </a:rPr>
              <a:t>Precision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325" y="4238625"/>
            <a:ext cx="3436999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125" i="0" u="none">
                <a:solidFill>
                  <a:srgbClr val="64748B"/>
                </a:solidFill>
                <a:latin typeface="Inter"/>
              </a:rPr>
              <a:t>Minimizes false positive risk alerts for marketing campaigns.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7574" y="3238500"/>
            <a:ext cx="3436999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b="1" sz="4800" i="0" u="none">
                <a:solidFill>
                  <a:srgbClr val="0F172A"/>
                </a:solidFill>
                <a:latin typeface="Inter"/>
              </a:rPr>
              <a:t>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7574" y="3962400"/>
            <a:ext cx="343699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0F172A"/>
                </a:solidFill>
                <a:latin typeface="Inter"/>
              </a:rPr>
              <a:t>Recall Metric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7574" y="4238625"/>
            <a:ext cx="3436999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125" i="0" u="none">
                <a:solidFill>
                  <a:srgbClr val="64748B"/>
                </a:solidFill>
                <a:latin typeface="Inter"/>
              </a:rPr>
              <a:t>Successfully captures true at-risk customers prior to churn.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6824" y="3238500"/>
            <a:ext cx="3436999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b="1" sz="4800" i="0" u="none">
                <a:solidFill>
                  <a:srgbClr val="0F172A"/>
                </a:solidFill>
                <a:latin typeface="Inter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6824" y="3962400"/>
            <a:ext cx="3436999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0F172A"/>
                </a:solidFill>
                <a:latin typeface="Inter"/>
              </a:rPr>
              <a:t>Decision Trees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6824" y="4238625"/>
            <a:ext cx="3436999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125" i="0" u="none">
                <a:solidFill>
                  <a:srgbClr val="64748B"/>
                </a:solidFill>
                <a:latin typeface="Inter"/>
              </a:rPr>
              <a:t>Random Forest Classifier ensemble configuration.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876550"/>
            <a:ext cx="438150" cy="38100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3686175"/>
            <a:ext cx="466725" cy="38100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600" y="4305300"/>
            <a:ext cx="466725" cy="381000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975" y="2376487"/>
            <a:ext cx="5305425" cy="3048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2386012"/>
            <a:ext cx="5286375" cy="30289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33400"/>
            <a:ext cx="11068050" cy="676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2563EB"/>
                </a:solidFill>
                <a:latin typeface="Inter"/>
              </a:rPr>
              <a:t>INSIGHTS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781050"/>
            <a:ext cx="11582400" cy="4286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Primary Drivers of Customer Churn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2971800"/>
            <a:ext cx="266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Inter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3781425"/>
            <a:ext cx="29527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" y="4400550"/>
            <a:ext cx="29527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Inter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0150" y="2876550"/>
            <a:ext cx="616327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Inter"/>
              </a:rPr>
              <a:t>Recency Spike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0150" y="3114675"/>
            <a:ext cx="4791075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475569"/>
                </a:solidFill>
                <a:latin typeface="Inter"/>
              </a:rPr>
              <a:t>Recency exceeding 180 days is the single highest predictor of churn risk.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8725" y="3686175"/>
            <a:ext cx="6063257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Inter"/>
              </a:rPr>
              <a:t>Low Purchase Volume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8725" y="3924300"/>
            <a:ext cx="5774531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475569"/>
                </a:solidFill>
                <a:latin typeface="Inter"/>
              </a:rPr>
              <a:t>Accounts with under 10 historical orders show high vulnerability.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8725" y="4305300"/>
            <a:ext cx="6125765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Inter"/>
              </a:rPr>
              <a:t>Monetary Cushion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8725" y="4543425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475569"/>
                </a:solidFill>
                <a:latin typeface="Inter"/>
              </a:rPr>
              <a:t>High cumulative spend buffers against short-term inactivity intervals.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3099494"/>
            <a:ext cx="5334000" cy="1640085"/>
          </a:xfrm>
          <a:prstGeom prst="roundRect">
            <a:avLst>
              <a:gd name="adj" fmla="val 929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8400" y="3099494"/>
            <a:ext cx="5334000" cy="1640085"/>
          </a:xfrm>
          <a:prstGeom prst="roundRect">
            <a:avLst>
              <a:gd name="adj" fmla="val 929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600" y="4730055"/>
            <a:ext cx="5334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3099494"/>
            <a:ext cx="5334000" cy="5715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00" y="3099494"/>
            <a:ext cx="9525" cy="164008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34075" y="3099494"/>
            <a:ext cx="9525" cy="164008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48400" y="4730055"/>
            <a:ext cx="5334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48400" y="3099494"/>
            <a:ext cx="5334000" cy="571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8400" y="3099494"/>
            <a:ext cx="9525" cy="164008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72875" y="3099494"/>
            <a:ext cx="9525" cy="164008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3509069"/>
            <a:ext cx="228600" cy="2286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825" y="3509069"/>
            <a:ext cx="257175" cy="228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533400"/>
            <a:ext cx="11068050" cy="676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2563EB"/>
                </a:solidFill>
                <a:latin typeface="Inter"/>
              </a:rPr>
              <a:t>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781050"/>
            <a:ext cx="11582400" cy="4286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Actionable Business Recommendations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025" y="3899594"/>
            <a:ext cx="4724400" cy="48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b="0" sz="1200" i="0" u="none">
                <a:solidFill>
                  <a:srgbClr val="475569"/>
                </a:solidFill>
                <a:latin typeface="Inter"/>
              </a:rPr>
              <a:t>Trigger automated email discounts and win-back offers for accounts entering the 180+ day recency threshold.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0825" y="3899594"/>
            <a:ext cx="4724400" cy="48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b="0" sz="1200" i="0" u="none">
                <a:solidFill>
                  <a:srgbClr val="475569"/>
                </a:solidFill>
                <a:latin typeface="Inter"/>
              </a:rPr>
              <a:t>Establish exclusive rewards and priority support for high-frequency, high-monetary customers to preserve loyalty.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4925" y="3499544"/>
            <a:ext cx="3537942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Inter"/>
              </a:rPr>
              <a:t>High-Risk Re-Engagement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2300" y="3499544"/>
            <a:ext cx="2725340" cy="247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Inter"/>
              </a:rPr>
              <a:t>VIP Loyalty Rewards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3219450"/>
            <a:ext cx="3433316" cy="1362075"/>
          </a:xfrm>
          <a:prstGeom prst="roundRect">
            <a:avLst>
              <a:gd name="adj" fmla="val 1118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33416" y="3219450"/>
            <a:ext cx="2207418" cy="1362075"/>
          </a:xfrm>
          <a:prstGeom prst="roundRect">
            <a:avLst>
              <a:gd name="adj" fmla="val 1118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631334" y="3219450"/>
            <a:ext cx="2553146" cy="1362075"/>
          </a:xfrm>
          <a:prstGeom prst="roundRect">
            <a:avLst>
              <a:gd name="adj" fmla="val 1118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74981" y="3219450"/>
            <a:ext cx="2207418" cy="1362075"/>
          </a:xfrm>
          <a:prstGeom prst="roundRect">
            <a:avLst>
              <a:gd name="adj" fmla="val 1118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495675"/>
            <a:ext cx="333375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641" y="3495675"/>
            <a:ext cx="266700" cy="2667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7559" y="3495675"/>
            <a:ext cx="200025" cy="2667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1206" y="3495675"/>
            <a:ext cx="304800" cy="2667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533400"/>
            <a:ext cx="11068050" cy="676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2563EB"/>
                </a:solidFill>
                <a:latin typeface="Inter"/>
              </a:rPr>
              <a:t>SUBMISSION PACKAGE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781050"/>
            <a:ext cx="11582400" cy="4286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2700" i="0" u="none">
                <a:solidFill>
                  <a:srgbClr val="0F172A"/>
                </a:solidFill>
                <a:latin typeface="Plus Jakarta Sans"/>
              </a:rPr>
              <a:t>Internship Deliverables Overview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5825" y="3876675"/>
            <a:ext cx="3781136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F172A"/>
                </a:solidFill>
                <a:latin typeface="Inter"/>
              </a:rPr>
              <a:t>Code 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825" y="4143375"/>
            <a:ext cx="3601082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Inter"/>
              </a:rPr>
              <a:t>Pranay_CustomerChurnPrediction.ipynb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9641" y="3876675"/>
            <a:ext cx="2172146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F172A"/>
                </a:solidFill>
                <a:latin typeface="Inter"/>
              </a:rPr>
              <a:t>Requirements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9641" y="4143375"/>
            <a:ext cx="206871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Inter"/>
              </a:rPr>
              <a:t>requirements.txt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7559" y="3876675"/>
            <a:ext cx="2625914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F172A"/>
                </a:solidFill>
                <a:latin typeface="Inter"/>
              </a:rPr>
              <a:t>Project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7559" y="4143375"/>
            <a:ext cx="250087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Inter"/>
              </a:rPr>
              <a:t>Pranay_ProjectReport.docx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1206" y="3876675"/>
            <a:ext cx="2172146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F172A"/>
                </a:solidFill>
                <a:latin typeface="Inter"/>
              </a:rPr>
              <a:t>README 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1206" y="4143375"/>
            <a:ext cx="2068710" cy="1619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Inter"/>
              </a:rPr>
              <a:t>README.md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86325" y="2092672"/>
            <a:ext cx="2419350" cy="276225"/>
          </a:xfrm>
          <a:prstGeom prst="roundRect">
            <a:avLst>
              <a:gd name="adj" fmla="val 50000"/>
            </a:avLst>
          </a:prstGeom>
          <a:solidFill>
            <a:srgbClr val="132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10250" y="4270027"/>
            <a:ext cx="571500" cy="2857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6306" y="2149822"/>
            <a:ext cx="2719387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60A5FA"/>
                </a:solidFill>
                <a:latin typeface="Inter"/>
              </a:rPr>
              <a:t>AICTE INTERNSHIP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0765" y="2559397"/>
            <a:ext cx="3750468" cy="666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4200" i="0" u="none">
                <a:solidFill>
                  <a:srgbClr val="FFFFFF"/>
                </a:solidFill>
                <a:latin typeface="Plus Jakarta Sans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24125" y="3378547"/>
            <a:ext cx="7143750" cy="586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10"/>
              </a:lnSpc>
            </a:pPr>
            <a:r>
              <a:rPr b="0" sz="1650" i="0" u="none">
                <a:solidFill>
                  <a:srgbClr val="94A3B8"/>
                </a:solidFill>
                <a:latin typeface="Inter"/>
              </a:rPr>
              <a:t>Customer Churn Prediction &amp; Predictive Analytics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6578" y="4565302"/>
            <a:ext cx="2178843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CBD5E1"/>
                </a:solidFill>
                <a:latin typeface="Inter"/>
              </a:rPr>
              <a:t>Presented by Pranay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990600"/>
            <a:ext cx="857250" cy="4762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571500"/>
            <a:ext cx="2175271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1E293B"/>
                </a:solidFill>
                <a:latin typeface="Inter"/>
              </a:rPr>
              <a:t>Image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6875" y="1033462"/>
            <a:ext cx="6810375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1E293B"/>
                </a:solidFill>
                <a:latin typeface="Inter"/>
              </a:rPr>
              <a:t>https://images.klipfolio.com/website/public/223cab88-4694-4a4f-8bc7-8d81fae1ee7f/public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66875" y="1233487"/>
            <a:ext cx="2440781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1E293B"/>
                </a:solidFill>
                <a:latin typeface="Inte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Inter"/>
              </a:rPr>
              <a:t>www.klipfolio.com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