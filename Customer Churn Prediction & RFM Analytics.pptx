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</ns0:embeddedFont>
    <ns0:embeddedFont>
      <ns0:font typeface="Inter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17789c9b-5273-4771-9bd7-8294e613f0f9.fntdata" /><ns0:Relationship Id="rIdFont20" Type="http://schemas.openxmlformats.org/officeDocument/2006/relationships/font" Target="fonts/77151218-ae55-49fe-a66c-23797c4e9cf2.fntdata" /><ns0:Relationship Id="rIdFont21" Type="http://schemas.openxmlformats.org/officeDocument/2006/relationships/font" Target="fonts/c61b44bd-09b2-4306-841b-f5033362ad1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63367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761232"/>
            <a:ext cx="3000375" cy="276225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266057"/>
            <a:ext cx="930116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Customer Churn Prediction &amp; RFM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95687"/>
            <a:ext cx="7524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Predictive Machine Learning Pipeline for Proactive Revenue Retention &amp; Customer Risk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818382"/>
            <a:ext cx="2790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Inter"/>
              </a:rPr>
              <a:t>AICTE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906267"/>
            <a:ext cx="1400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Author: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Pranay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8825" y="4906267"/>
            <a:ext cx="2464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Focus: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Predictive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5300" y="4906267"/>
            <a:ext cx="3155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Stack: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Python, Pandas,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5609"/>
            <a:ext cx="5610225" cy="2367855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2025" y="4284315"/>
            <a:ext cx="4905375" cy="466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77025" y="2576512"/>
            <a:ext cx="4905375" cy="1600200"/>
          </a:xfrm>
          <a:prstGeom prst="roundRect">
            <a:avLst>
              <a:gd name="adj" fmla="val 952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7025" y="4367212"/>
            <a:ext cx="4905375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2025" y="4284315"/>
            <a:ext cx="49053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448434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088034"/>
            <a:ext cx="643830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Core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507134"/>
            <a:ext cx="50006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Transform raw transaction logs into customer-level RFM metrics to build an automated churn prediction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1125" y="4522440"/>
            <a:ext cx="4714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Proactive Retention vs Reactive Customer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1825" y="2881312"/>
            <a:ext cx="521017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FFFFFF"/>
                </a:solidFill>
                <a:latin typeface="Inter"/>
              </a:rPr>
              <a:t>5x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1825" y="3490912"/>
            <a:ext cx="43910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Higher cost to acquire new customers than retaining existing 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4605337"/>
            <a:ext cx="52768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Machine Learning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4833937"/>
            <a:ext cx="52768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Supervised classification via Random Forest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7975"/>
            <a:ext cx="350520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47975"/>
            <a:ext cx="350520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47975"/>
            <a:ext cx="350520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847975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847975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847975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90875"/>
            <a:ext cx="3429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190875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190875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BUSINESS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Cost of Unidentified Churn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48075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Revenue Decay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00500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Unmonitored churn leads to direct erosion of recurring revenue and lifetime customer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648075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High CAC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4000500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Replacing lost accounts requires intensive ad spend and high acquisition budgets.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648075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Delayed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4000500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Re-engaging clients after total disengagement yields low response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7050"/>
            <a:ext cx="2440781" cy="1704975"/>
          </a:xfrm>
          <a:prstGeom prst="roundRect">
            <a:avLst>
              <a:gd name="adj" fmla="val 89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9956" y="3067050"/>
            <a:ext cx="2440781" cy="1704975"/>
          </a:xfrm>
          <a:prstGeom prst="roundRect">
            <a:avLst>
              <a:gd name="adj" fmla="val 89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10312" y="3067050"/>
            <a:ext cx="2440781" cy="1704975"/>
          </a:xfrm>
          <a:prstGeom prst="roundRect">
            <a:avLst>
              <a:gd name="adj" fmla="val 89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60668" y="3076575"/>
            <a:ext cx="2421731" cy="1685925"/>
          </a:xfrm>
          <a:prstGeom prst="roundRect">
            <a:avLst>
              <a:gd name="adj" fmla="val 9039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781" y="3833812"/>
            <a:ext cx="1047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137" y="3833812"/>
            <a:ext cx="1047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493" y="3833812"/>
            <a:ext cx="104775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TECHNICAL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End-to-End Analytics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343275"/>
            <a:ext cx="236041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19500"/>
            <a:ext cx="24784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Data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95725"/>
            <a:ext cx="1983581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Standardizing string formats and handling missing order values.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6181" y="3343275"/>
            <a:ext cx="236041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6181" y="3619500"/>
            <a:ext cx="24784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RFM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6181" y="3895725"/>
            <a:ext cx="1983581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Aggregating transactions to Recency, Frequency &amp; Monetary metrics.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6537" y="3343275"/>
            <a:ext cx="236041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6537" y="3619500"/>
            <a:ext cx="24784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Model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6537" y="3895725"/>
            <a:ext cx="1983581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Random Forest Classification on 80/20 train-test split.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368" y="3343275"/>
            <a:ext cx="236041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368" y="3619500"/>
            <a:ext cx="24784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Risk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368" y="3895725"/>
            <a:ext cx="1983581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DBEAFE"/>
                </a:solidFill>
                <a:latin typeface="Inter"/>
              </a:rPr>
              <a:t>Exporting High/Low risk classifications for automated campaigns.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081462"/>
            <a:ext cx="152400" cy="15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500437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662487"/>
            <a:ext cx="952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500437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081462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662487"/>
            <a:ext cx="95250" cy="152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2776537"/>
          <a:ext cx="10972798" cy="22479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89658"/>
                <a:gridCol w="4445198"/>
                <a:gridCol w="1801415"/>
                <a:gridCol w="2936527"/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Definition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Data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Churn Signal Threshold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Inter"/>
                        </a:rPr>
                        <a:t>Recency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Days elapsed since last customer transaction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Integer (Days)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F4444"/>
                          </a:solidFill>
                          <a:latin typeface="Inter"/>
                        </a:rPr>
                        <a:t>&gt; 180 Days Inactive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Inter"/>
                        </a:rPr>
                        <a:t>Frequency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Total completed transaction 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Integer (Count)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&lt; 10 Total Orders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Inter"/>
                        </a:rPr>
                        <a:t>Monetary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Cumulative lifetime revenue generated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Float ($ USD)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LTV Segmentation Cushion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RFM Behavioral Metrics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91225" y="1971675"/>
            <a:ext cx="5591175" cy="3857625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62175"/>
            <a:ext cx="5038725" cy="1057275"/>
          </a:xfrm>
          <a:prstGeom prst="roundRect">
            <a:avLst>
              <a:gd name="adj" fmla="val 126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371850"/>
            <a:ext cx="5038725" cy="1057275"/>
          </a:xfrm>
          <a:prstGeom prst="roundRect">
            <a:avLst>
              <a:gd name="adj" fmla="val 126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81525"/>
            <a:ext cx="5038725" cy="1057275"/>
          </a:xfrm>
          <a:prstGeom prst="roundRect">
            <a:avLst>
              <a:gd name="adj" fmla="val 126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2714625"/>
            <a:ext cx="456247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924300"/>
            <a:ext cx="456247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5133975"/>
            <a:ext cx="456247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6662" y="2676525"/>
            <a:ext cx="1143000" cy="1066800"/>
          </a:xfrm>
          <a:prstGeom prst="roundRect">
            <a:avLst>
              <a:gd name="adj" fmla="val 10714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43962" y="2676525"/>
            <a:ext cx="1143000" cy="106680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6662" y="3857625"/>
            <a:ext cx="1143000" cy="139065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43962" y="3857625"/>
            <a:ext cx="1143000" cy="139065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725" y="2714625"/>
            <a:ext cx="4288631" cy="952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725" y="3924300"/>
            <a:ext cx="4151709" cy="95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7725" y="5133975"/>
            <a:ext cx="4379862" cy="952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2266950"/>
            <a:ext cx="1714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MODEL RESULTS &amp;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Performance Metrics &amp; Confusion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2350" y="2247900"/>
            <a:ext cx="3712964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Confusion Matrix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1687" y="5400675"/>
            <a:ext cx="5810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Random Forest Model trained on 100 Decision Trees with 80/20 train-test split.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867025"/>
            <a:ext cx="5703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Minimizes false positive alerts for marketing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076700"/>
            <a:ext cx="5703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Captures true at-risk accounts prior to disengagement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5286375"/>
            <a:ext cx="5703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High classification separation ability across threshold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2405062"/>
            <a:ext cx="1500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Model Precision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2362200"/>
            <a:ext cx="8191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94%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3614737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Model 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3950" y="3571875"/>
            <a:ext cx="762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91%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824412"/>
            <a:ext cx="1512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ROC-AUC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6325" y="4781550"/>
            <a:ext cx="8096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8B5CF6"/>
                </a:solidFill>
                <a:latin typeface="Inter"/>
              </a:rPr>
              <a:t>0.96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3337" y="2886075"/>
            <a:ext cx="10096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E40AF"/>
                </a:solidFill>
                <a:latin typeface="Inter"/>
              </a:rPr>
              <a:t>1,820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3337" y="3248025"/>
            <a:ext cx="1009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3A8A"/>
                </a:solidFill>
                <a:latin typeface="Inter"/>
              </a:rPr>
              <a:t>True Churn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337" y="3400425"/>
            <a:ext cx="10096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B82F6"/>
                </a:solidFill>
                <a:latin typeface="Inter"/>
              </a:rPr>
              <a:t>(Correct Risk)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1112" y="2876550"/>
            <a:ext cx="10287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B45309"/>
                </a:solidFill>
                <a:latin typeface="Inter"/>
              </a:rPr>
              <a:t>116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1112" y="3238500"/>
            <a:ext cx="10287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78350F"/>
                </a:solidFill>
                <a:latin typeface="Inter"/>
              </a:rPr>
              <a:t>False Alarm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1112" y="3390900"/>
            <a:ext cx="10287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0F172A"/>
                </a:solidFill>
                <a:latin typeface="Inter"/>
              </a:rPr>
              <a:t>(Low Impact)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3812" y="4057650"/>
            <a:ext cx="10287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B91C1C"/>
                </a:solidFill>
                <a:latin typeface="Inter"/>
              </a:rPr>
              <a:t>180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43812" y="4419600"/>
            <a:ext cx="1028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7F1D1D"/>
                </a:solidFill>
                <a:latin typeface="Inter"/>
              </a:rPr>
              <a:t>Missed Churn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43812" y="4724400"/>
            <a:ext cx="1028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EF4444"/>
                </a:solidFill>
                <a:latin typeface="Inter"/>
              </a:rPr>
              <a:t>(Action Needed)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0637" y="4067175"/>
            <a:ext cx="10096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5803D"/>
                </a:solidFill>
                <a:latin typeface="Inter"/>
              </a:rPr>
              <a:t>3,884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0637" y="4752975"/>
            <a:ext cx="1009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4532D"/>
                </a:solidFill>
                <a:latin typeface="Inter"/>
              </a:rPr>
              <a:t>True Loyal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0637" y="4905375"/>
            <a:ext cx="10096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0F172A"/>
                </a:solidFill>
                <a:latin typeface="Inter"/>
              </a:rPr>
              <a:t>(Retained)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86000"/>
            <a:ext cx="6595169" cy="3228975"/>
          </a:xfrm>
          <a:prstGeom prst="roundRect">
            <a:avLst>
              <a:gd name="adj" fmla="val 47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3925" y="3286125"/>
            <a:ext cx="5966519" cy="1714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3867150"/>
            <a:ext cx="5966519" cy="1714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4448175"/>
            <a:ext cx="5966519" cy="1714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5029200"/>
            <a:ext cx="5966519" cy="1714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" y="3286125"/>
            <a:ext cx="2875805" cy="171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925" y="3867150"/>
            <a:ext cx="1640681" cy="1714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925" y="4448175"/>
            <a:ext cx="882997" cy="1714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925" y="5029200"/>
            <a:ext cx="566737" cy="171450"/>
          </a:xfrm>
          <a:prstGeom prst="roundRect">
            <a:avLst>
              <a:gd name="adj" fmla="val 50000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769" y="2281237"/>
            <a:ext cx="3996630" cy="3238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294" y="2290762"/>
            <a:ext cx="3977580" cy="3219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619375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FEATURE IMPORTANCE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Key Behavioral Predictors of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600325"/>
            <a:ext cx="7831056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Random Forest Gini Feature Importance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048000"/>
            <a:ext cx="2321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1. Recency (Days Inactive)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719" y="3048000"/>
            <a:ext cx="752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Inter"/>
              </a:rPr>
              <a:t>48.2%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629025"/>
            <a:ext cx="2405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2. Frequency (Order Count)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819" y="3629025"/>
            <a:ext cx="714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B82F6"/>
                </a:solidFill>
                <a:latin typeface="Inter"/>
              </a:rPr>
              <a:t>27.5%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210050"/>
            <a:ext cx="2571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3. Monetary (Lifetime Spend)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819" y="4210050"/>
            <a:ext cx="714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14.8%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4791075"/>
            <a:ext cx="2202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4. Avg Order Value (AOV)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8969" y="4791075"/>
            <a:ext cx="6572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9.5%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3693"/>
            <a:ext cx="3454449" cy="2033587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83693"/>
            <a:ext cx="3454449" cy="2033587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83693"/>
            <a:ext cx="3454449" cy="2033587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907756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883693"/>
            <a:ext cx="3454449" cy="476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883693"/>
            <a:ext cx="9525" cy="20335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4524" y="2883693"/>
            <a:ext cx="9525" cy="20335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849" y="4907756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8849" y="2883693"/>
            <a:ext cx="3454449" cy="476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849" y="2883693"/>
            <a:ext cx="9525" cy="20335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3774" y="2883693"/>
            <a:ext cx="9525" cy="20335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99" y="4907756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8099" y="2883693"/>
            <a:ext cx="3454449" cy="476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99" y="2883693"/>
            <a:ext cx="9525" cy="20335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3023" y="2883693"/>
            <a:ext cx="9525" cy="20335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BEHAVIORAL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Key Drivers of Churn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236118"/>
            <a:ext cx="353224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EF4444"/>
                </a:solidFill>
                <a:latin typeface="Inter"/>
              </a:rPr>
              <a:t>&gt; 180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3683793"/>
            <a:ext cx="370886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Recency Spike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3960018"/>
            <a:ext cx="29210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Inactivity over 180 days represents the highest single predictor of permanent account loss.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3174" y="3236118"/>
            <a:ext cx="353224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&lt; 10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3174" y="3683793"/>
            <a:ext cx="370886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Low Order Frequency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3174" y="3960018"/>
            <a:ext cx="29210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Accounts with under 10 historical orders lack habitual brand loyalty and show high vulnerability.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2424" y="3236118"/>
            <a:ext cx="353224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High LTV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2424" y="3683793"/>
            <a:ext cx="370886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Monetary Cushion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2424" y="3960018"/>
            <a:ext cx="29210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High cumulative historical spend acts as a buffer against short-term inactivity intervals.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9494"/>
            <a:ext cx="5334000" cy="1640085"/>
          </a:xfrm>
          <a:prstGeom prst="roundRect">
            <a:avLst>
              <a:gd name="adj" fmla="val 92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77604"/>
            <a:ext cx="5334000" cy="1883866"/>
          </a:xfrm>
          <a:prstGeom prst="roundRect">
            <a:avLst>
              <a:gd name="adj" fmla="val 80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73005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099494"/>
            <a:ext cx="5334000" cy="57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99494"/>
            <a:ext cx="9525" cy="164008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34075" y="3099494"/>
            <a:ext cx="9525" cy="164008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400" y="485194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400" y="2977604"/>
            <a:ext cx="533400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400" y="2977604"/>
            <a:ext cx="9525" cy="188386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2977604"/>
            <a:ext cx="9525" cy="188386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509069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387179"/>
            <a:ext cx="2571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Actionable Retention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899594"/>
            <a:ext cx="47244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Trigger automated email discounts and personalized win-back offers for accounts entering the 180+ day recency threshold.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3777704"/>
            <a:ext cx="47244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Establish exclusive perks and priority customer support for high-frequency, high-monetary accounts to maintain long-term retention.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4925" y="3499544"/>
            <a:ext cx="353794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High-Risk Re-Engagement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3377654"/>
            <a:ext cx="272534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VIP Loyalty Rewards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19450"/>
            <a:ext cx="3433316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33416" y="3219450"/>
            <a:ext cx="2207418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31334" y="3219450"/>
            <a:ext cx="2553146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74981" y="3219450"/>
            <a:ext cx="2207418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495675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641" y="3495675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559" y="3495675"/>
            <a:ext cx="2000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206" y="3495675"/>
            <a:ext cx="3048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PROJECT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Internship Package 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876675"/>
            <a:ext cx="378113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Jupyter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143375"/>
            <a:ext cx="360108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Pranay_CustomerChurnPrediction.ipynb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9641" y="3876675"/>
            <a:ext cx="217214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9641" y="4143375"/>
            <a:ext cx="206871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requirements.txt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7559" y="3876675"/>
            <a:ext cx="262591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Project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7559" y="4143375"/>
            <a:ext cx="250087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Pranay_ProjectReport.docx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1206" y="3876675"/>
            <a:ext cx="217214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1206" y="4143375"/>
            <a:ext cx="206871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README.md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86325" y="2092672"/>
            <a:ext cx="2419350" cy="276225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10250" y="4270027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6306" y="2149822"/>
            <a:ext cx="271938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0A5FA"/>
                </a:solidFill>
                <a:latin typeface="Inter"/>
              </a:rPr>
              <a:t>AICTE INTERNSHIP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0765" y="2559397"/>
            <a:ext cx="3750468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378547"/>
            <a:ext cx="7143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Customer Churn Prediction &amp; Predictive Analytics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6578" y="4565302"/>
            <a:ext cx="2178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CBD5E1"/>
                </a:solidFill>
                <a:latin typeface="Inter"/>
              </a:rPr>
              <a:t>Presented by Pranay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6072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https://spyro-soft.com/wp-content/uploads/2023/07/churn-drivers-1024x715.png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131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spyro-soft.com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